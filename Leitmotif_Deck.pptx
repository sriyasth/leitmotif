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713805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LEITMOTIF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C13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Adaptive audio echolocation for the visually impaired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Powered by Gemini and Lyria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B203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YC x Google DeepMind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73152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The Concept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In music and film, a leitmotif is a recurring musical theme tied to a character, place, or idea.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C13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Leitmotif brings this concept into the real world as an accessibility tool.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Using an iPhone camera feed, computer vision, and dynamic music generation, the app assigns unique musical themes to people, objects, and environments around a visually impaired user.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3657600" cy="1463040"/>
          </a:xfrm>
          <a:prstGeom prst="rect">
            <a:avLst/>
          </a:prstGeom>
          <a:solidFill>
            <a:srgbClr val="713805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1097280"/>
            <a:ext cx="54864" cy="146304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188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203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The Film Analogy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When Darth Vader enters a scene, the Imperial March plays. Leitmotif does the same for real people in real spaces.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926080"/>
            <a:ext cx="3657600" cy="1097280"/>
          </a:xfrm>
          <a:prstGeom prst="rect">
            <a:avLst/>
          </a:prstGeom>
          <a:solidFill>
            <a:srgbClr val="19636A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926080"/>
            <a:ext cx="54864" cy="1097280"/>
          </a:xfrm>
          <a:prstGeom prst="rect">
            <a:avLst/>
          </a:prstGeom>
          <a:solidFill>
            <a:srgbClr val="2A8A93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3017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Why Now?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Six months ago, this wasn’t possible. Gemini’s real-time vision + Lyria’s dynamic audio generation make it achievable today.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73152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Real-time pipeline from camera to soundscape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1234440"/>
            <a:ext cx="502920" cy="502920"/>
          </a:xfrm>
          <a:prstGeom prst="oval">
            <a:avLst/>
          </a:prstGeom>
          <a:solidFill>
            <a:srgbClr val="FDB20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1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745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See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iPhone camera captures live video. Gemini processes the feed to identify objects, faces, and environment in real time.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402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3805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63240" y="1234440"/>
            <a:ext cx="502920" cy="502920"/>
          </a:xfrm>
          <a:prstGeom prst="oval">
            <a:avLst/>
          </a:prstGeom>
          <a:solidFill>
            <a:srgbClr val="FDB203"/>
          </a:solidFill>
          <a:ln/>
        </p:spPr>
      </p:sp>
      <p:sp>
        <p:nvSpPr>
          <p:cNvPr id="15" name="Text 12"/>
          <p:cNvSpPr/>
          <p:nvPr/>
        </p:nvSpPr>
        <p:spPr>
          <a:xfrm>
            <a:off x="30632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8745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Recognize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560320" y="26517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Detected faces are matched against a vector database of known contacts. Each person maps to a unique user ID.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34340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3805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166360" y="1234440"/>
            <a:ext cx="502920" cy="502920"/>
          </a:xfrm>
          <a:prstGeom prst="oval">
            <a:avLst/>
          </a:prstGeom>
          <a:solidFill>
            <a:srgbClr val="FDB203"/>
          </a:solidFill>
          <a:ln/>
        </p:spPr>
      </p:sp>
      <p:sp>
        <p:nvSpPr>
          <p:cNvPr id="21" name="Text 17"/>
          <p:cNvSpPr/>
          <p:nvPr/>
        </p:nvSpPr>
        <p:spPr>
          <a:xfrm>
            <a:off x="51663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3</a:t>
            </a:r>
            <a:endParaRPr lang="en-US" sz="2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8745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Compose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63440" y="26517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Each user ID links to a personal leitmotif. New people get motifs composed on the fly by Lyria from Gemini’s visual description.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4652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3805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269480" y="1234440"/>
            <a:ext cx="502920" cy="502920"/>
          </a:xfrm>
          <a:prstGeom prst="oval">
            <a:avLst/>
          </a:prstGeom>
          <a:solidFill>
            <a:srgbClr val="FDB203"/>
          </a:solidFill>
          <a:ln/>
        </p:spPr>
      </p:sp>
      <p:sp>
        <p:nvSpPr>
          <p:cNvPr id="27" name="Text 22"/>
          <p:cNvSpPr/>
          <p:nvPr/>
        </p:nvSpPr>
        <p:spPr>
          <a:xfrm>
            <a:off x="7269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4</a:t>
            </a:r>
            <a:endParaRPr lang="en-US" sz="2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18745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65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Play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766560" y="26517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 leitmotif layers into the soundscape. When someone leaves, a countermelody signals their departure.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73152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Core technologies powering the Leitmotif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457200" cy="457200"/>
          </a:xfrm>
          <a:prstGeom prst="oval">
            <a:avLst/>
          </a:prstGeom>
          <a:solidFill>
            <a:srgbClr val="19636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069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Gemini CLI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298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Interprets live video feed; generates text prompts for Lyria based on visual analysis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1801368"/>
            <a:ext cx="457200" cy="457200"/>
          </a:xfrm>
          <a:prstGeom prst="oval">
            <a:avLst/>
          </a:prstGeom>
          <a:solidFill>
            <a:srgbClr val="FDB20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928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1819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Lyria API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80160" y="2048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Generates unique musical motifs from text descriptions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0080" y="2551176"/>
            <a:ext cx="457200" cy="457200"/>
          </a:xfrm>
          <a:prstGeom prst="oval">
            <a:avLst/>
          </a:prstGeom>
          <a:solidFill>
            <a:srgbClr val="AF42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426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569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Vector Database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Stores face embeddings; maps them to contact profiles and leitmotifs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" y="3300984"/>
            <a:ext cx="457200" cy="457200"/>
          </a:xfrm>
          <a:prstGeom prst="oval">
            <a:avLst/>
          </a:prstGeom>
          <a:solidFill>
            <a:srgbClr val="4152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24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319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AWS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80160" y="3547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Cloud hosting for backend services, API gateway, and motif storage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40080" y="4050792"/>
            <a:ext cx="457200" cy="457200"/>
          </a:xfrm>
          <a:prstGeom prst="oval">
            <a:avLst/>
          </a:prstGeom>
          <a:solidFill>
            <a:srgbClr val="2A8A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223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iOS Native App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280160" y="4297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Camera capture, audio playback, contact management UI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669280" y="1097280"/>
            <a:ext cx="2743200" cy="502920"/>
          </a:xfrm>
          <a:prstGeom prst="rect">
            <a:avLst/>
          </a:prstGeom>
          <a:solidFill>
            <a:srgbClr val="2A8A93">
              <a:alpha val="7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5669280" y="1097280"/>
            <a:ext cx="45720" cy="502920"/>
          </a:xfrm>
          <a:prstGeom prst="rect">
            <a:avLst/>
          </a:prstGeom>
          <a:solidFill>
            <a:srgbClr val="2A8A93"/>
          </a:solidFill>
          <a:ln/>
        </p:spPr>
      </p:sp>
      <p:sp>
        <p:nvSpPr>
          <p:cNvPr id="30" name="Text 23"/>
          <p:cNvSpPr/>
          <p:nvPr/>
        </p:nvSpPr>
        <p:spPr>
          <a:xfrm>
            <a:off x="585216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iPhone Camera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85800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3805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669280" y="1828800"/>
            <a:ext cx="2743200" cy="502920"/>
          </a:xfrm>
          <a:prstGeom prst="rect">
            <a:avLst/>
          </a:prstGeom>
          <a:solidFill>
            <a:srgbClr val="19636A">
              <a:alpha val="70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5669280" y="1828800"/>
            <a:ext cx="45720" cy="50292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34" name="Text 27"/>
          <p:cNvSpPr/>
          <p:nvPr/>
        </p:nvSpPr>
        <p:spPr>
          <a:xfrm>
            <a:off x="58521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Gemini Vision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85800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3805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669280" y="2560320"/>
            <a:ext cx="2743200" cy="502920"/>
          </a:xfrm>
          <a:prstGeom prst="rect">
            <a:avLst/>
          </a:prstGeom>
          <a:solidFill>
            <a:srgbClr val="AF4230">
              <a:alpha val="70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5669280" y="2560320"/>
            <a:ext cx="45720" cy="502920"/>
          </a:xfrm>
          <a:prstGeom prst="rect">
            <a:avLst/>
          </a:prstGeom>
          <a:solidFill>
            <a:srgbClr val="AF4230"/>
          </a:solidFill>
          <a:ln/>
        </p:spPr>
      </p:sp>
      <p:sp>
        <p:nvSpPr>
          <p:cNvPr id="38" name="Text 31"/>
          <p:cNvSpPr/>
          <p:nvPr/>
        </p:nvSpPr>
        <p:spPr>
          <a:xfrm>
            <a:off x="585216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858000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3805"/>
                </a:solidFill>
              </a:rPr>
              <a:t>▼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5669280" y="3291840"/>
            <a:ext cx="2743200" cy="502920"/>
          </a:xfrm>
          <a:prstGeom prst="rect">
            <a:avLst/>
          </a:prstGeom>
          <a:solidFill>
            <a:srgbClr val="FDB203">
              <a:alpha val="70000"/>
            </a:srgbClr>
          </a:solidFill>
          <a:ln/>
        </p:spPr>
      </p:sp>
      <p:sp>
        <p:nvSpPr>
          <p:cNvPr id="41" name="Shape 34"/>
          <p:cNvSpPr/>
          <p:nvPr/>
        </p:nvSpPr>
        <p:spPr>
          <a:xfrm>
            <a:off x="5669280" y="3291840"/>
            <a:ext cx="45720" cy="50292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2" name="Text 35"/>
          <p:cNvSpPr/>
          <p:nvPr/>
        </p:nvSpPr>
        <p:spPr>
          <a:xfrm>
            <a:off x="585216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Lyria Audio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858000" y="3749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3805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669280" y="4023360"/>
            <a:ext cx="2743200" cy="502920"/>
          </a:xfrm>
          <a:prstGeom prst="rect">
            <a:avLst/>
          </a:prstGeom>
          <a:solidFill>
            <a:srgbClr val="41523D">
              <a:alpha val="70000"/>
            </a:srgbClr>
          </a:solidFill>
          <a:ln/>
        </p:spPr>
      </p:sp>
      <p:sp>
        <p:nvSpPr>
          <p:cNvPr id="45" name="Shape 38"/>
          <p:cNvSpPr/>
          <p:nvPr/>
        </p:nvSpPr>
        <p:spPr>
          <a:xfrm>
            <a:off x="5669280" y="4023360"/>
            <a:ext cx="45720" cy="502920"/>
          </a:xfrm>
          <a:prstGeom prst="rect">
            <a:avLst/>
          </a:prstGeom>
          <a:solidFill>
            <a:srgbClr val="41523D"/>
          </a:solidFill>
          <a:ln/>
        </p:spPr>
      </p:sp>
      <p:sp>
        <p:nvSpPr>
          <p:cNvPr id="46" name="Text 39"/>
          <p:cNvSpPr/>
          <p:nvPr/>
        </p:nvSpPr>
        <p:spPr>
          <a:xfrm>
            <a:off x="585216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Spatial Audio Output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73152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Demo Scenario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Living room setting demonstrating real-time social interaction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640080" cy="36576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0:00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" y="1463040"/>
            <a:ext cx="36576" cy="365760"/>
          </a:xfrm>
          <a:prstGeom prst="rect">
            <a:avLst/>
          </a:prstGeom>
          <a:solidFill>
            <a:srgbClr val="19636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Camera stationary in living 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1307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Ambient soundscape only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847088"/>
            <a:ext cx="640080" cy="36576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47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0:05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" y="2212848"/>
            <a:ext cx="36576" cy="365760"/>
          </a:xfrm>
          <a:prstGeom prst="rect">
            <a:avLst/>
          </a:prstGeom>
          <a:solidFill>
            <a:srgbClr val="FDB20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Person A enters the room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Their personal leitmotif fades 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96896"/>
            <a:ext cx="640080" cy="36576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968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0:12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" y="2962656"/>
            <a:ext cx="36576" cy="365760"/>
          </a:xfrm>
          <a:prstGeom prst="rect">
            <a:avLst/>
          </a:prstGeom>
          <a:solidFill>
            <a:srgbClr val="FDB203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Person B joins from opposite side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2807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Second theme layers in, spatially positioned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346704"/>
            <a:ext cx="640080" cy="365760"/>
          </a:xfrm>
          <a:prstGeom prst="rect">
            <a:avLst/>
          </a:prstGeom>
          <a:solidFill>
            <a:srgbClr val="AF423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467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0:20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" y="3712464"/>
            <a:ext cx="36576" cy="365760"/>
          </a:xfrm>
          <a:prstGeom prst="rect">
            <a:avLst/>
          </a:prstGeom>
          <a:solidFill>
            <a:srgbClr val="AF4230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Person A leaves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557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Countermelody plays, motif fades 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096512"/>
            <a:ext cx="640080" cy="365760"/>
          </a:xfrm>
          <a:prstGeom prst="rect">
            <a:avLst/>
          </a:prstGeom>
          <a:solidFill>
            <a:srgbClr val="2A8A9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0:28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4050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More people arrive and depart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Soundscape dynamically adapts in real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713805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1097280"/>
            <a:ext cx="54864" cy="347472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12801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B203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What the Audience Experiences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The number and identity of people in a conversation is communicated entirely through music.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Each person has a unique theme. Arrivals fade in. Departures trigger countermelodies. The soundscape is a living audio map of the social environment.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73152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Extended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Beyond basic recognition — a full spatial audio intelligence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19636A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051560"/>
            <a:ext cx="45720" cy="105156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234440"/>
            <a:ext cx="411480" cy="411480"/>
          </a:xfrm>
          <a:prstGeom prst="oval">
            <a:avLst/>
          </a:prstGeom>
          <a:solidFill>
            <a:srgbClr val="19636A">
              <a:alpha val="7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9844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Proximity-Aware Sound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Distance modulates the leitmotif. Closer means louder, faster, or higher-pitched. Sound adjusts continuously as people move.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FDB203">
              <a:alpha val="2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754880" y="1051560"/>
            <a:ext cx="45720" cy="105156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16" name="Shape 13"/>
          <p:cNvSpPr/>
          <p:nvPr/>
        </p:nvSpPr>
        <p:spPr>
          <a:xfrm>
            <a:off x="4937760" y="1234440"/>
            <a:ext cx="411480" cy="411480"/>
          </a:xfrm>
          <a:prstGeom prst="oval">
            <a:avLst/>
          </a:prstGeom>
          <a:solidFill>
            <a:srgbClr val="FDB203">
              <a:alpha val="7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2984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Hierarchical Soundscape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0" y="1481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Generated audio balances against environmental sounds. The system enhances rather than overwhelms natural hearing.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AF4230">
              <a:alpha val="25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457200" y="2286000"/>
            <a:ext cx="45720" cy="1051560"/>
          </a:xfrm>
          <a:prstGeom prst="rect">
            <a:avLst/>
          </a:prstGeom>
          <a:solidFill>
            <a:srgbClr val="AF4230"/>
          </a:solidFill>
          <a:ln/>
        </p:spPr>
      </p:sp>
      <p:sp>
        <p:nvSpPr>
          <p:cNvPr id="22" name="Shape 18"/>
          <p:cNvSpPr/>
          <p:nvPr/>
        </p:nvSpPr>
        <p:spPr>
          <a:xfrm>
            <a:off x="640080" y="2468880"/>
            <a:ext cx="411480" cy="411480"/>
          </a:xfrm>
          <a:prstGeom prst="oval">
            <a:avLst/>
          </a:prstGeom>
          <a:solidFill>
            <a:srgbClr val="AF4230">
              <a:alpha val="70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53288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Importance-Based Priority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88720" y="2715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Hazards first, then people, then objects, then environment. Frequency of appearance strengthens recognition.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2A8A93">
              <a:alpha val="25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4754880" y="2286000"/>
            <a:ext cx="45720" cy="1051560"/>
          </a:xfrm>
          <a:prstGeom prst="rect">
            <a:avLst/>
          </a:prstGeom>
          <a:solidFill>
            <a:srgbClr val="2A8A93"/>
          </a:solidFill>
          <a:ln/>
        </p:spPr>
      </p:sp>
      <p:sp>
        <p:nvSpPr>
          <p:cNvPr id="28" name="Shape 23"/>
          <p:cNvSpPr/>
          <p:nvPr/>
        </p:nvSpPr>
        <p:spPr>
          <a:xfrm>
            <a:off x="4937760" y="2468880"/>
            <a:ext cx="411480" cy="411480"/>
          </a:xfrm>
          <a:prstGeom prst="oval">
            <a:avLst/>
          </a:prstGeom>
          <a:solidFill>
            <a:srgbClr val="2A8A93">
              <a:alpha val="7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53288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Spatial Audio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0" y="2715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When the user turns their head, sound sources maintain their real-world direction. True 3D audio mapping.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713805">
              <a:alpha val="25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457200" y="3520440"/>
            <a:ext cx="45720" cy="1051560"/>
          </a:xfrm>
          <a:prstGeom prst="rect">
            <a:avLst/>
          </a:prstGeom>
          <a:solidFill>
            <a:srgbClr val="713805"/>
          </a:solidFill>
          <a:ln/>
        </p:spPr>
      </p:sp>
      <p:sp>
        <p:nvSpPr>
          <p:cNvPr id="34" name="Shape 28"/>
          <p:cNvSpPr/>
          <p:nvPr/>
        </p:nvSpPr>
        <p:spPr>
          <a:xfrm>
            <a:off x="640080" y="3703320"/>
            <a:ext cx="411480" cy="411480"/>
          </a:xfrm>
          <a:prstGeom prst="oval">
            <a:avLst/>
          </a:prstGeom>
          <a:solidFill>
            <a:srgbClr val="713805">
              <a:alpha val="70000"/>
            </a:srgb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767328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8872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Crowd Handling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88720" y="3950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When detected faces exceed a threshold, individual identification switches to a collective ambient motif.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41523D">
              <a:alpha val="25000"/>
            </a:srgbClr>
          </a:solidFill>
          <a:ln/>
        </p:spPr>
      </p:sp>
      <p:sp>
        <p:nvSpPr>
          <p:cNvPr id="39" name="Shape 32"/>
          <p:cNvSpPr/>
          <p:nvPr/>
        </p:nvSpPr>
        <p:spPr>
          <a:xfrm>
            <a:off x="4754880" y="3520440"/>
            <a:ext cx="45720" cy="1051560"/>
          </a:xfrm>
          <a:prstGeom prst="rect">
            <a:avLst/>
          </a:prstGeom>
          <a:solidFill>
            <a:srgbClr val="41523D"/>
          </a:solidFill>
          <a:ln/>
        </p:spPr>
      </p:sp>
      <p:sp>
        <p:nvSpPr>
          <p:cNvPr id="40" name="Shape 33"/>
          <p:cNvSpPr/>
          <p:nvPr/>
        </p:nvSpPr>
        <p:spPr>
          <a:xfrm>
            <a:off x="4937760" y="3703320"/>
            <a:ext cx="411480" cy="411480"/>
          </a:xfrm>
          <a:prstGeom prst="oval">
            <a:avLst/>
          </a:prstGeom>
          <a:solidFill>
            <a:srgbClr val="41523D">
              <a:alpha val="70000"/>
            </a:srgbClr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767328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48640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Visual Heatmap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5486400" y="3950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A 2D top-down display shows sound source locations for debugging and demo purposes.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73152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Audio Engine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Dynamic mixing, spatial positioning, and proximity modulation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CACA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203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Proximity Modulation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venir Heavy" pitchFamily="34" charset="0"/>
                          <a:ea typeface="Avenir Heavy" pitchFamily="34" charset="-122"/>
                          <a:cs typeface="Avenir Heavy" pitchFamily="34" charset="-120"/>
                        </a:rPr>
                        <a:t>Distance</a:t>
                      </a:r>
                      <a:endParaRPr lang="en-US" sz="900" dirty="0">
                        <a:latin typeface="Avenir Heavy" charset="0"/>
                        <a:ea typeface="Avenir Heavy" charset="0"/>
                        <a:cs typeface="Avenir Heav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20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venir Heavy" pitchFamily="34" charset="0"/>
                          <a:ea typeface="Avenir Heavy" pitchFamily="34" charset="-122"/>
                          <a:cs typeface="Avenir Heavy" pitchFamily="34" charset="-120"/>
                        </a:rPr>
                        <a:t>Effect</a:t>
                      </a:r>
                      <a:endParaRPr lang="en-US" sz="900" dirty="0">
                        <a:latin typeface="Avenir Heavy" charset="0"/>
                        <a:ea typeface="Avenir Heavy" charset="0"/>
                        <a:cs typeface="Avenir Heav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20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&lt; 1m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Full volume, normal tempo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1–3m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-6dB, slight tempo reduction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3–6m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-12dB, lower pitch shift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&gt; 6m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venir Book" pitchFamily="34" charset="0"/>
                          <a:ea typeface="Avenir Book" pitchFamily="34" charset="-122"/>
                          <a:cs typeface="Avenir Book" pitchFamily="34" charset="-120"/>
                        </a:rPr>
                        <a:t>Minimal presence, ambient only</a:t>
                      </a:r>
                      <a:endParaRPr lang="en-US" sz="900" dirty="0">
                        <a:latin typeface="Avenir Book" charset="0"/>
                        <a:ea typeface="Avenir Book" charset="0"/>
                        <a:cs typeface="Avenir Book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203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Mixing Hierarchy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1508760"/>
            <a:ext cx="3657600" cy="411480"/>
          </a:xfrm>
          <a:prstGeom prst="rect">
            <a:avLst/>
          </a:prstGeom>
          <a:solidFill>
            <a:srgbClr val="AF4230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508760"/>
            <a:ext cx="45720" cy="411480"/>
          </a:xfrm>
          <a:prstGeom prst="rect">
            <a:avLst/>
          </a:prstGeom>
          <a:solidFill>
            <a:srgbClr val="AF4230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1. Immediate Hazards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2103120"/>
            <a:ext cx="3200400" cy="411480"/>
          </a:xfrm>
          <a:prstGeom prst="rect">
            <a:avLst/>
          </a:prstGeom>
          <a:solidFill>
            <a:srgbClr val="FDB203">
              <a:alpha val="7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103120"/>
            <a:ext cx="45720" cy="411480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16" name="Text 13"/>
          <p:cNvSpPr/>
          <p:nvPr/>
        </p:nvSpPr>
        <p:spPr>
          <a:xfrm>
            <a:off x="5212080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2. People (Known &amp; Unknown)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2697480"/>
            <a:ext cx="2743200" cy="411480"/>
          </a:xfrm>
          <a:prstGeom prst="rect">
            <a:avLst/>
          </a:prstGeom>
          <a:solidFill>
            <a:srgbClr val="19636A">
              <a:alpha val="7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0" y="2697480"/>
            <a:ext cx="45720" cy="411480"/>
          </a:xfrm>
          <a:prstGeom prst="rect">
            <a:avLst/>
          </a:prstGeom>
          <a:solidFill>
            <a:srgbClr val="19636A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3. Objects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3291840"/>
            <a:ext cx="2286000" cy="411480"/>
          </a:xfrm>
          <a:prstGeom prst="rect">
            <a:avLst/>
          </a:prstGeom>
          <a:solidFill>
            <a:srgbClr val="41523D">
              <a:alpha val="7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0" y="3291840"/>
            <a:ext cx="45720" cy="411480"/>
          </a:xfrm>
          <a:prstGeom prst="rect">
            <a:avLst/>
          </a:prstGeom>
          <a:solidFill>
            <a:srgbClr val="41523D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4. Environment / Ambient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19636A">
              <a:alpha val="3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B203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Design Principles: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venir Book" pitchFamily="34" charset="0"/>
                <a:ea typeface="Avenir Book" pitchFamily="34" charset="-122"/>
                <a:cs typeface="Avenir Book" pitchFamily="34" charset="-120"/>
              </a:rPr>
              <a:t>New motifs fade in over 500ms. Departures use countermelody + fade-out. The system monitors environmental audio and adjusts gain to augment, not replace, natural hearing.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FDB20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venir Heavy" pitchFamily="34" charset="0"/>
                <a:ea typeface="Avenir Heavy" pitchFamily="34" charset="-122"/>
                <a:cs typeface="Avenir Heavy" pitchFamily="34" charset="-120"/>
              </a:rPr>
              <a:t>Q&amp;A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B203"/>
                </a:solidFill>
                <a:latin typeface="Avenir Medium" pitchFamily="34" charset="0"/>
                <a:ea typeface="Avenir Medium" pitchFamily="34" charset="-122"/>
                <a:cs typeface="Avenir Medium" pitchFamily="34" charset="-120"/>
              </a:rPr>
              <a:t>Leitmotif — Adaptive Audio Echolocation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CACA"/>
                </a:solidFill>
                <a:latin typeface="Avenir Light" pitchFamily="34" charset="0"/>
                <a:ea typeface="Avenir Light" pitchFamily="34" charset="-122"/>
                <a:cs typeface="Avenir Light" pitchFamily="34" charset="-120"/>
              </a:rPr>
              <a:t>YC x Google DeepMind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Leitmotif — Adaptive Audio Echolocation</dc:title>
  <dc:subject>PptxGenJS Presentation</dc:subject>
  <dc:creator>Leitmotif Team</dc:creator>
  <cp:lastModifiedBy>Leitmotif Team</cp:lastModifiedBy>
  <cp:revision>1</cp:revision>
  <dcterms:created xsi:type="dcterms:W3CDTF">2026-03-07T22:34:30Z</dcterms:created>
  <dcterms:modified xsi:type="dcterms:W3CDTF">2026-03-07T22:34:30Z</dcterms:modified>
</cp:coreProperties>
</file>